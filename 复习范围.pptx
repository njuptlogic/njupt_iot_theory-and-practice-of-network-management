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80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CD2E57B-3F3E-4443-A129-40E153A898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3A6D82D4-0A89-4E57-91A9-C01C002543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A7BDF9F-CA8E-4049-A1D0-4AC615F0AC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63244A-F0A0-4F56-8F83-D317D8F0A40E}" type="datetimeFigureOut">
              <a:rPr lang="zh-CN" altLang="en-US" smtClean="0"/>
              <a:t>2025/5/24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E672CD6-084A-4DA5-B929-DA9D76FFC3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232F546-EBCA-4601-B40E-71BC8BBFA1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874C81-0BB2-4027-90D7-A42128634A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87092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1EC6051-E713-4620-8A1F-A1F180A49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E8DB979-122B-4C5C-9C70-888FAC4956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D81B407-F1DF-490D-B585-D401622AE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63244A-F0A0-4F56-8F83-D317D8F0A40E}" type="datetimeFigureOut">
              <a:rPr lang="zh-CN" altLang="en-US" smtClean="0"/>
              <a:t>2025/5/24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35E90F9-3BA0-4D19-A2FA-E8C7693536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517B633-24FC-402A-AB5F-14F92FB287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874C81-0BB2-4027-90D7-A42128634A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480891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69DE1AA-8266-4746-A9C2-D8FCBBDA48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8CF646D-3C94-4A6A-81D6-CCB9B9E13E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778B4BB-ABD9-4A8D-9E8E-2F1503C981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63244A-F0A0-4F56-8F83-D317D8F0A40E}" type="datetimeFigureOut">
              <a:rPr lang="zh-CN" altLang="en-US" smtClean="0"/>
              <a:t>2025/5/24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B3D8B66-93DC-42CB-9EDA-AD33AEF087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3AC35A3-026E-46BC-AD6A-9B46FEA9DF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874C81-0BB2-4027-90D7-A42128634A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832005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58065CC-6699-413A-BB72-C47FAFF1A0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D177C96-17F1-4A57-B23D-7C45C8A7138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73D7CCB-7574-4946-8594-4A10CD6837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493E914-D287-4B73-B4B9-F3AA3EFFDF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63244A-F0A0-4F56-8F83-D317D8F0A40E}" type="datetimeFigureOut">
              <a:rPr lang="zh-CN" altLang="en-US" smtClean="0"/>
              <a:t>2025/5/24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C409827-98B4-484E-AE6C-5347756EA6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E352023-C7FA-4BC0-B6C9-36AB8EC5D4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874C81-0BB2-4027-90D7-A42128634A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739779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3E806F-EDBD-46A5-920D-7236FAAF51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5525BAD-714F-44D5-8CF0-80F6E86F78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3849238-CC93-4D41-8C5F-F8FB87C972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FE86745-D7D2-4A1B-AF6F-83655562F9B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B550A9F8-FE76-4439-BB49-EDAFD696A92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99157B26-F32D-43DE-9880-3BE336D2A1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63244A-F0A0-4F56-8F83-D317D8F0A40E}" type="datetimeFigureOut">
              <a:rPr lang="zh-CN" altLang="en-US" smtClean="0"/>
              <a:t>2025/5/24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612B6BAC-9941-49AF-B59B-EC3BFFE96C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F2858DDE-664C-4A2A-9631-D60B9EA5C8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874C81-0BB2-4027-90D7-A42128634A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21668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B865482-5F1F-4419-8AC9-976F62458B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E180A65-E2F4-45F5-8D23-B3218B52E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63244A-F0A0-4F56-8F83-D317D8F0A40E}" type="datetimeFigureOut">
              <a:rPr lang="zh-CN" altLang="en-US" smtClean="0"/>
              <a:t>2025/5/24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88C3DDD-6680-47CC-A2C3-9EE53F6D89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12B5D4A-AEB2-4225-BDA6-CDDA67428C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874C81-0BB2-4027-90D7-A42128634A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674962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BD05DE3-D639-43E1-A47D-CB171C68DF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63244A-F0A0-4F56-8F83-D317D8F0A40E}" type="datetimeFigureOut">
              <a:rPr lang="zh-CN" altLang="en-US" smtClean="0"/>
              <a:t>2025/5/24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39E55F0E-0B61-4CA3-86CE-142CF6FABD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5A72ECD-B761-4CCC-85C8-642E944233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874C81-0BB2-4027-90D7-A42128634A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32028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025DE38-3A9A-4F8A-8C0E-08C10E96C0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5252F40-B87A-4F23-BC36-9455C5975C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A002A79-D5EE-443F-959F-F21D0AEEB5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2CBF3EF-3F48-4AF1-8E9C-2C09685DFA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63244A-F0A0-4F56-8F83-D317D8F0A40E}" type="datetimeFigureOut">
              <a:rPr lang="zh-CN" altLang="en-US" smtClean="0"/>
              <a:t>2025/5/24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6738098-B050-4BEE-989E-F3A3792595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9824DA3-9C75-4FA8-B824-4B1A664765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874C81-0BB2-4027-90D7-A42128634A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135587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8B16A10-6EBE-439E-9ECE-C122E79A1D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8A1CB387-D96C-4A57-BF78-83DB9EACDAF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EDDB8FB-C44C-4444-8EA7-52256B93F3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FCA6937-BDF6-4009-AC4D-364D719E04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63244A-F0A0-4F56-8F83-D317D8F0A40E}" type="datetimeFigureOut">
              <a:rPr lang="zh-CN" altLang="en-US" smtClean="0"/>
              <a:t>2025/5/24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625C9D9-4123-4EBF-BBBD-7C16BDE047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2DD6B6E-9232-4370-BF8C-B17926DA5C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874C81-0BB2-4027-90D7-A42128634A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903378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CF2F102-B72B-4BFC-A402-B1B43F8863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72D03F9-D822-4CAF-BEC7-79C1082E7D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76AAD31-B6A4-4BD8-9C2B-1038F0E44B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63244A-F0A0-4F56-8F83-D317D8F0A40E}" type="datetimeFigureOut">
              <a:rPr lang="zh-CN" altLang="en-US" smtClean="0"/>
              <a:t>2025/5/24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08598AD-8953-4375-88F6-1A4BFCFEEE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E63E0C0-EC7B-4528-927E-3EA958D5A7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874C81-0BB2-4027-90D7-A42128634A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89766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C36F0A82-A4B6-47D5-9EFC-20F7E6913BD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B99DC0A-CAEA-4040-A32D-9C6F1DAD7D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80CA583-25FD-4F05-8FAF-1405660E91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63244A-F0A0-4F56-8F83-D317D8F0A40E}" type="datetimeFigureOut">
              <a:rPr lang="zh-CN" altLang="en-US" smtClean="0"/>
              <a:t>2025/5/24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CC0776E-7548-4BA4-826B-FC54821DF2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A39195D-3F07-4060-8243-9D42AE9D58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874C81-0BB2-4027-90D7-A42128634A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09457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BB81E971-9EE6-46A8-8CAF-427746C13D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558508E-ABFC-40C5-B758-3E92E39CB4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CDFE863-01F5-449F-A22F-C42B85E965E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63244A-F0A0-4F56-8F83-D317D8F0A40E}" type="datetimeFigureOut">
              <a:rPr lang="zh-CN" altLang="en-US" smtClean="0"/>
              <a:t>2025/5/24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508795F-ED17-4B3E-A667-66CB4D94A94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9EEB82F-E27F-45B4-AA18-E227E390AF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874C81-0BB2-4027-90D7-A42128634A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25944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1EB9ED3-5509-483F-AAE4-13B799E752C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网络管理理论与实践</a:t>
            </a:r>
            <a:r>
              <a:rPr lang="en-US" altLang="zh-CN" dirty="0"/>
              <a:t>(</a:t>
            </a:r>
            <a:r>
              <a:rPr lang="zh-CN" altLang="en-US" dirty="0"/>
              <a:t>混合式）复习课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6E0E0124-117E-47AA-91DD-2D414C73364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478946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43B6CB9-19CC-40B5-8F1F-F9BFB5A3F7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考试重点</a:t>
            </a:r>
            <a:r>
              <a:rPr lang="en-US" altLang="zh-CN" dirty="0"/>
              <a:t>——</a:t>
            </a:r>
            <a:r>
              <a:rPr lang="zh-CN" altLang="en-US" dirty="0"/>
              <a:t>全书前面五章内容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C863FCB-B900-4B0B-AD34-85757CFFEF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第一章 网络管理概论</a:t>
            </a:r>
            <a:endParaRPr lang="en-US" altLang="zh-CN" dirty="0"/>
          </a:p>
          <a:p>
            <a:r>
              <a:rPr lang="zh-CN" altLang="en-US" dirty="0"/>
              <a:t>第二章 抽象无法表示</a:t>
            </a:r>
            <a:r>
              <a:rPr lang="en-US" altLang="zh-CN" dirty="0"/>
              <a:t>ASN.1</a:t>
            </a:r>
          </a:p>
          <a:p>
            <a:r>
              <a:rPr lang="zh-CN" altLang="en-US" dirty="0"/>
              <a:t>第三章 管理信息库</a:t>
            </a:r>
            <a:endParaRPr lang="en-US" altLang="zh-CN" dirty="0"/>
          </a:p>
          <a:p>
            <a:r>
              <a:rPr lang="zh-CN" altLang="en-US" dirty="0"/>
              <a:t>第四章 简单网络管理协议</a:t>
            </a:r>
            <a:endParaRPr lang="en-US" altLang="zh-CN" dirty="0"/>
          </a:p>
          <a:p>
            <a:r>
              <a:rPr lang="zh-CN" altLang="en-US" dirty="0"/>
              <a:t>第五章 远程网络监控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0324976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14E286-3CF2-4598-B277-A90D3923E9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第一章网络管理概述重点难点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6D1618D-ABFC-41A8-8791-2C9751DF8E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网络管理的基本概念</a:t>
            </a:r>
            <a:endParaRPr lang="en-US" altLang="zh-CN" dirty="0"/>
          </a:p>
          <a:p>
            <a:pPr lvl="1"/>
            <a:r>
              <a:rPr lang="zh-CN" altLang="en-US" dirty="0"/>
              <a:t>网络管理对网络正常运行的意义</a:t>
            </a:r>
            <a:endParaRPr lang="en-US" altLang="zh-CN" dirty="0"/>
          </a:p>
          <a:p>
            <a:pPr lvl="1"/>
            <a:r>
              <a:rPr lang="zh-CN" altLang="en-US" dirty="0"/>
              <a:t>集中式和分布式的区别</a:t>
            </a:r>
            <a:endParaRPr lang="en-US" altLang="zh-CN" dirty="0"/>
          </a:p>
          <a:p>
            <a:pPr lvl="1"/>
            <a:r>
              <a:rPr lang="zh-CN" altLang="en-US" dirty="0"/>
              <a:t>委托代理</a:t>
            </a:r>
            <a:endParaRPr lang="en-US" altLang="zh-CN" dirty="0"/>
          </a:p>
          <a:p>
            <a:pPr lvl="1"/>
            <a:r>
              <a:rPr lang="zh-CN" altLang="en-US" dirty="0"/>
              <a:t>监视和控制</a:t>
            </a:r>
            <a:endParaRPr lang="en-US" altLang="zh-CN" dirty="0"/>
          </a:p>
          <a:p>
            <a:pPr lvl="1"/>
            <a:r>
              <a:rPr lang="zh-CN" altLang="en-US" dirty="0"/>
              <a:t>五大功能</a:t>
            </a:r>
            <a:endParaRPr lang="en-US" altLang="zh-CN" dirty="0"/>
          </a:p>
          <a:p>
            <a:pPr lvl="2"/>
            <a:r>
              <a:rPr lang="zh-CN" altLang="en-US" dirty="0"/>
              <a:t>可用行</a:t>
            </a:r>
            <a:endParaRPr lang="en-US" altLang="zh-CN" dirty="0"/>
          </a:p>
          <a:p>
            <a:pPr lvl="2"/>
            <a:r>
              <a:rPr lang="zh-CN" altLang="en-US" dirty="0"/>
              <a:t>响应时间</a:t>
            </a:r>
            <a:endParaRPr lang="en-US" altLang="zh-CN" dirty="0"/>
          </a:p>
          <a:p>
            <a:pPr lvl="2"/>
            <a:r>
              <a:rPr lang="zh-CN" altLang="en-US" dirty="0"/>
              <a:t>利用率</a:t>
            </a:r>
            <a:endParaRPr lang="en-US" altLang="zh-CN" dirty="0"/>
          </a:p>
          <a:p>
            <a:pPr lvl="1"/>
            <a:r>
              <a:rPr lang="en-US" altLang="zh-CN" dirty="0"/>
              <a:t>RFC</a:t>
            </a:r>
            <a:r>
              <a:rPr lang="zh-CN" altLang="en-US" dirty="0"/>
              <a:t>系列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40880208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14E286-3CF2-4598-B277-A90D3923E9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第二章抽象语法表示</a:t>
            </a:r>
            <a:r>
              <a:rPr lang="en-US" altLang="zh-CN" dirty="0"/>
              <a:t>ASN.1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6D1618D-ABFC-41A8-8791-2C9751DF8E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CN" dirty="0"/>
              <a:t>ASN.1</a:t>
            </a:r>
            <a:r>
              <a:rPr lang="zh-CN" altLang="en-US" dirty="0"/>
              <a:t>基本概念</a:t>
            </a:r>
            <a:endParaRPr lang="en-US" altLang="zh-CN" dirty="0"/>
          </a:p>
          <a:p>
            <a:pPr lvl="1"/>
            <a:r>
              <a:rPr lang="zh-CN" altLang="en-US" dirty="0"/>
              <a:t>定义</a:t>
            </a:r>
            <a:endParaRPr lang="en-US" altLang="zh-CN" dirty="0"/>
          </a:p>
          <a:p>
            <a:pPr lvl="1"/>
            <a:r>
              <a:rPr lang="zh-CN" altLang="en-US" dirty="0"/>
              <a:t>抽象数据类型</a:t>
            </a:r>
            <a:endParaRPr lang="en-US" altLang="zh-CN" dirty="0"/>
          </a:p>
          <a:p>
            <a:pPr lvl="2"/>
            <a:r>
              <a:rPr lang="zh-CN" altLang="en-US" dirty="0"/>
              <a:t>标签的四种类型及其各种例子</a:t>
            </a:r>
            <a:endParaRPr lang="en-US" altLang="zh-CN" dirty="0"/>
          </a:p>
          <a:p>
            <a:pPr lvl="2"/>
            <a:r>
              <a:rPr lang="zh-CN" altLang="en-US" dirty="0"/>
              <a:t>子类型</a:t>
            </a:r>
            <a:endParaRPr lang="en-US" altLang="zh-CN" dirty="0"/>
          </a:p>
          <a:p>
            <a:pPr lvl="3"/>
            <a:r>
              <a:rPr lang="zh-CN" altLang="en-US" dirty="0"/>
              <a:t>产生子类型的</a:t>
            </a:r>
            <a:r>
              <a:rPr lang="en-US" altLang="zh-CN" dirty="0"/>
              <a:t>6</a:t>
            </a:r>
            <a:r>
              <a:rPr lang="zh-CN" altLang="en-US" dirty="0"/>
              <a:t>中方法</a:t>
            </a:r>
            <a:endParaRPr lang="en-US" altLang="zh-CN" dirty="0"/>
          </a:p>
          <a:p>
            <a:r>
              <a:rPr lang="zh-CN" altLang="en-US" dirty="0"/>
              <a:t>基本编码规则</a:t>
            </a:r>
            <a:r>
              <a:rPr lang="en-US" altLang="zh-CN" dirty="0"/>
              <a:t>BER</a:t>
            </a:r>
          </a:p>
          <a:p>
            <a:pPr lvl="1"/>
            <a:r>
              <a:rPr lang="en-US" altLang="zh-CN" dirty="0"/>
              <a:t>TLV</a:t>
            </a:r>
            <a:r>
              <a:rPr lang="zh-CN" altLang="en-US" dirty="0"/>
              <a:t>结构</a:t>
            </a:r>
            <a:endParaRPr lang="en-US" altLang="zh-CN" dirty="0"/>
          </a:p>
          <a:p>
            <a:pPr lvl="2"/>
            <a:r>
              <a:rPr lang="zh-CN" altLang="en-US" dirty="0"/>
              <a:t>标签的扩展</a:t>
            </a:r>
            <a:endParaRPr lang="en-US" altLang="zh-CN" dirty="0"/>
          </a:p>
          <a:p>
            <a:pPr lvl="2"/>
            <a:r>
              <a:rPr lang="zh-CN" altLang="en-US" dirty="0"/>
              <a:t>长度的扩展</a:t>
            </a:r>
            <a:endParaRPr lang="en-US" altLang="zh-CN" dirty="0"/>
          </a:p>
          <a:p>
            <a:pPr lvl="2"/>
            <a:r>
              <a:rPr lang="zh-CN" altLang="en-US" dirty="0"/>
              <a:t>例子</a:t>
            </a:r>
            <a:endParaRPr lang="en-US" altLang="zh-CN" dirty="0"/>
          </a:p>
          <a:p>
            <a:r>
              <a:rPr lang="zh-CN" altLang="en-US" dirty="0"/>
              <a:t>宏定义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8053969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A65A9DA-8C72-4057-B69D-F07C21E6EC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第三章 管理信息库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1672664-13B3-4187-87AA-7FF115650B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altLang="zh-CN" dirty="0"/>
              <a:t>SNMP</a:t>
            </a:r>
            <a:r>
              <a:rPr lang="zh-CN" altLang="en-US" dirty="0"/>
              <a:t>的协议</a:t>
            </a:r>
            <a:endParaRPr lang="en-US" altLang="zh-CN" dirty="0"/>
          </a:p>
          <a:p>
            <a:pPr lvl="1"/>
            <a:r>
              <a:rPr lang="en-US" altLang="zh-CN" dirty="0"/>
              <a:t>UDP</a:t>
            </a:r>
            <a:r>
              <a:rPr lang="zh-CN" altLang="en-US" dirty="0"/>
              <a:t>协议的选择问题</a:t>
            </a:r>
            <a:endParaRPr lang="en-US" altLang="zh-CN" dirty="0"/>
          </a:p>
          <a:p>
            <a:pPr lvl="1"/>
            <a:r>
              <a:rPr lang="zh-CN" altLang="en-US" dirty="0"/>
              <a:t>团体名的使用和优缺点</a:t>
            </a:r>
            <a:endParaRPr lang="en-US" altLang="zh-CN" dirty="0"/>
          </a:p>
          <a:p>
            <a:r>
              <a:rPr lang="en-US" altLang="zh-CN" dirty="0"/>
              <a:t>MIB</a:t>
            </a:r>
            <a:r>
              <a:rPr lang="zh-CN" altLang="en-US" dirty="0"/>
              <a:t>结构</a:t>
            </a:r>
            <a:endParaRPr lang="en-US" altLang="zh-CN" dirty="0"/>
          </a:p>
          <a:p>
            <a:pPr lvl="1"/>
            <a:r>
              <a:rPr lang="zh-CN" altLang="en-US" dirty="0"/>
              <a:t>层次树结构的作用</a:t>
            </a:r>
            <a:endParaRPr lang="en-US" altLang="zh-CN" dirty="0"/>
          </a:p>
          <a:p>
            <a:pPr lvl="1"/>
            <a:r>
              <a:rPr lang="en-US" altLang="zh-CN" dirty="0"/>
              <a:t>MIB-2</a:t>
            </a:r>
            <a:r>
              <a:rPr lang="zh-CN" altLang="en-US" dirty="0"/>
              <a:t>下层次的命名方式</a:t>
            </a:r>
            <a:endParaRPr lang="en-US" altLang="zh-CN" dirty="0"/>
          </a:p>
          <a:p>
            <a:pPr lvl="1"/>
            <a:r>
              <a:rPr lang="en-US" altLang="zh-CN" dirty="0"/>
              <a:t>MIB</a:t>
            </a:r>
            <a:r>
              <a:rPr lang="zh-CN" altLang="en-US" dirty="0"/>
              <a:t>的数据类型（计数器和计量器的区别）</a:t>
            </a:r>
            <a:endParaRPr lang="en-US" altLang="zh-CN" dirty="0"/>
          </a:p>
          <a:p>
            <a:pPr lvl="1"/>
            <a:r>
              <a:rPr lang="zh-CN" altLang="en-US" dirty="0"/>
              <a:t>管理信息结构的定义，要会看得懂</a:t>
            </a:r>
            <a:endParaRPr lang="en-US" altLang="zh-CN" dirty="0"/>
          </a:p>
          <a:p>
            <a:r>
              <a:rPr lang="zh-CN" altLang="en-US" dirty="0"/>
              <a:t>标量对象和表对象</a:t>
            </a:r>
            <a:endParaRPr lang="en-US" altLang="zh-CN" dirty="0"/>
          </a:p>
          <a:p>
            <a:pPr lvl="1"/>
            <a:r>
              <a:rPr lang="zh-CN" altLang="en-US" dirty="0">
                <a:solidFill>
                  <a:srgbClr val="FF0000"/>
                </a:solidFill>
              </a:rPr>
              <a:t>如何访问标量对象和表对象</a:t>
            </a:r>
            <a:endParaRPr lang="en-US" altLang="zh-CN" dirty="0">
              <a:solidFill>
                <a:srgbClr val="FF0000"/>
              </a:solidFill>
            </a:endParaRPr>
          </a:p>
          <a:p>
            <a:pPr lvl="1"/>
            <a:r>
              <a:rPr lang="zh-CN" altLang="en-US" dirty="0">
                <a:solidFill>
                  <a:srgbClr val="FF0000"/>
                </a:solidFill>
              </a:rPr>
              <a:t>词典顺序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en-US" altLang="zh-CN" dirty="0"/>
              <a:t>MIB-2</a:t>
            </a:r>
            <a:r>
              <a:rPr lang="zh-CN" altLang="en-US" dirty="0"/>
              <a:t>功能组</a:t>
            </a:r>
            <a:endParaRPr lang="en-US" altLang="zh-CN" dirty="0"/>
          </a:p>
          <a:p>
            <a:pPr lvl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182523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DA09201-EE25-4910-9564-F52342BA83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第四章 简单网络管理协议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05504E3-B02E-4217-98C1-482B404E16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1536807"/>
            <a:ext cx="5157787" cy="4652856"/>
          </a:xfrm>
        </p:spPr>
        <p:txBody>
          <a:bodyPr>
            <a:normAutofit lnSpcReduction="10000"/>
          </a:bodyPr>
          <a:lstStyle/>
          <a:p>
            <a:r>
              <a:rPr lang="en-US" altLang="zh-CN" dirty="0"/>
              <a:t>SNMPv1v2v3</a:t>
            </a:r>
            <a:r>
              <a:rPr lang="zh-CN" altLang="en-US" dirty="0"/>
              <a:t>的演变</a:t>
            </a:r>
            <a:endParaRPr lang="en-US" altLang="zh-CN" dirty="0"/>
          </a:p>
          <a:p>
            <a:r>
              <a:rPr lang="en-US" altLang="zh-CN" dirty="0"/>
              <a:t>SNMPv1</a:t>
            </a:r>
          </a:p>
          <a:p>
            <a:pPr lvl="1"/>
            <a:r>
              <a:rPr lang="zh-CN" altLang="en-US" dirty="0"/>
              <a:t>支持的操作和</a:t>
            </a:r>
            <a:r>
              <a:rPr lang="en-US" altLang="zh-CN" dirty="0"/>
              <a:t>PDU</a:t>
            </a:r>
            <a:r>
              <a:rPr lang="zh-CN" altLang="en-US" dirty="0"/>
              <a:t>格式</a:t>
            </a:r>
            <a:endParaRPr lang="en-US" altLang="zh-CN" dirty="0"/>
          </a:p>
          <a:p>
            <a:pPr lvl="1"/>
            <a:r>
              <a:rPr lang="zh-CN" altLang="en-US" dirty="0"/>
              <a:t>报文发送应答序列</a:t>
            </a:r>
            <a:endParaRPr lang="en-US" altLang="zh-CN" dirty="0"/>
          </a:p>
          <a:p>
            <a:pPr lvl="1"/>
            <a:r>
              <a:rPr lang="zh-CN" altLang="en-US" dirty="0">
                <a:solidFill>
                  <a:srgbClr val="FF0000"/>
                </a:solidFill>
              </a:rPr>
              <a:t>检索简单和表对象</a:t>
            </a:r>
            <a:endParaRPr lang="en-US" altLang="zh-CN" dirty="0">
              <a:solidFill>
                <a:srgbClr val="FF0000"/>
              </a:solidFill>
            </a:endParaRPr>
          </a:p>
          <a:p>
            <a:pPr lvl="1"/>
            <a:r>
              <a:rPr lang="zh-CN" altLang="en-US" dirty="0"/>
              <a:t>表的更新和删除</a:t>
            </a:r>
            <a:endParaRPr lang="en-US" altLang="zh-CN" dirty="0"/>
          </a:p>
          <a:p>
            <a:pPr lvl="1"/>
            <a:r>
              <a:rPr lang="zh-CN" altLang="en-US" dirty="0"/>
              <a:t>轮询的计算</a:t>
            </a:r>
            <a:endParaRPr lang="en-US" altLang="zh-CN" dirty="0"/>
          </a:p>
          <a:p>
            <a:pPr lvl="1"/>
            <a:r>
              <a:rPr lang="zh-CN" altLang="en-US" dirty="0"/>
              <a:t>局限性</a:t>
            </a:r>
            <a:endParaRPr lang="en-US" altLang="zh-CN" dirty="0"/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B6139933-25FF-4C48-8B73-AD1FF5F5ECA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1536807"/>
            <a:ext cx="5183188" cy="4652856"/>
          </a:xfrm>
        </p:spPr>
        <p:txBody>
          <a:bodyPr>
            <a:normAutofit lnSpcReduction="10000"/>
          </a:bodyPr>
          <a:lstStyle/>
          <a:p>
            <a:r>
              <a:rPr lang="en-US" altLang="zh-CN" dirty="0"/>
              <a:t>SNMPv2</a:t>
            </a:r>
          </a:p>
          <a:p>
            <a:pPr lvl="1"/>
            <a:r>
              <a:rPr lang="en-US" altLang="zh-CN" dirty="0">
                <a:solidFill>
                  <a:srgbClr val="FF0000"/>
                </a:solidFill>
              </a:rPr>
              <a:t>AUGMENTS</a:t>
            </a:r>
            <a:r>
              <a:rPr lang="zh-CN" altLang="en-US" dirty="0">
                <a:solidFill>
                  <a:srgbClr val="FF0000"/>
                </a:solidFill>
              </a:rPr>
              <a:t>子句</a:t>
            </a:r>
            <a:endParaRPr lang="en-US" altLang="zh-CN" dirty="0">
              <a:solidFill>
                <a:srgbClr val="FF0000"/>
              </a:solidFill>
            </a:endParaRPr>
          </a:p>
          <a:p>
            <a:pPr lvl="1"/>
            <a:r>
              <a:rPr lang="zh-CN" altLang="en-US" dirty="0"/>
              <a:t>表的生成和删除</a:t>
            </a:r>
            <a:endParaRPr lang="en-US" altLang="zh-CN" dirty="0"/>
          </a:p>
          <a:p>
            <a:pPr lvl="1"/>
            <a:r>
              <a:rPr lang="zh-CN" altLang="en-US" dirty="0"/>
              <a:t>通知和信息模块</a:t>
            </a:r>
            <a:endParaRPr lang="en-US" altLang="zh-CN" dirty="0"/>
          </a:p>
          <a:p>
            <a:pPr lvl="1"/>
            <a:r>
              <a:rPr lang="en-US" altLang="zh-CN" dirty="0"/>
              <a:t>PDU</a:t>
            </a:r>
            <a:r>
              <a:rPr lang="zh-CN" altLang="en-US" dirty="0"/>
              <a:t>格式</a:t>
            </a:r>
            <a:endParaRPr lang="en-US" altLang="zh-CN" dirty="0"/>
          </a:p>
          <a:p>
            <a:pPr lvl="1"/>
            <a:r>
              <a:rPr lang="zh-CN" altLang="en-US" dirty="0">
                <a:highlight>
                  <a:srgbClr val="FFFF00"/>
                </a:highlight>
              </a:rPr>
              <a:t>检索对象</a:t>
            </a:r>
            <a:endParaRPr lang="en-US" altLang="zh-CN" dirty="0">
              <a:highlight>
                <a:srgbClr val="FFFF00"/>
              </a:highlight>
            </a:endParaRPr>
          </a:p>
          <a:p>
            <a:pPr lvl="1"/>
            <a:r>
              <a:rPr lang="zh-CN" altLang="en-US" dirty="0"/>
              <a:t>管理站之间通信</a:t>
            </a:r>
            <a:endParaRPr lang="en-US" altLang="zh-CN" dirty="0"/>
          </a:p>
          <a:p>
            <a:r>
              <a:rPr lang="en-US" altLang="zh-CN" dirty="0"/>
              <a:t>SNMPv3</a:t>
            </a:r>
          </a:p>
          <a:p>
            <a:pPr lvl="1"/>
            <a:r>
              <a:rPr lang="zh-CN" altLang="en-US" dirty="0"/>
              <a:t>管理框架</a:t>
            </a:r>
            <a:endParaRPr lang="en-US" altLang="zh-CN" dirty="0"/>
          </a:p>
          <a:p>
            <a:pPr lvl="1"/>
            <a:r>
              <a:rPr lang="zh-CN" altLang="en-US" dirty="0"/>
              <a:t>引擎和应用程序</a:t>
            </a:r>
            <a:endParaRPr lang="en-US" altLang="zh-CN" dirty="0"/>
          </a:p>
          <a:p>
            <a:pPr lvl="1"/>
            <a:r>
              <a:rPr lang="zh-CN" altLang="en-US" dirty="0"/>
              <a:t>基于用户的安全模型</a:t>
            </a:r>
            <a:endParaRPr lang="en-US" altLang="zh-CN" dirty="0"/>
          </a:p>
          <a:p>
            <a:pPr lvl="2"/>
            <a:r>
              <a:rPr lang="zh-CN" altLang="en-US" dirty="0"/>
              <a:t>威胁防护</a:t>
            </a:r>
          </a:p>
        </p:txBody>
      </p:sp>
    </p:spTree>
    <p:extLst>
      <p:ext uri="{BB962C8B-B14F-4D97-AF65-F5344CB8AC3E}">
        <p14:creationId xmlns:p14="http://schemas.microsoft.com/office/powerpoint/2010/main" val="15674600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DA09201-EE25-4910-9564-F52342BA83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第五章 远程网络监视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05504E3-B02E-4217-98C1-482B404E16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1613647"/>
            <a:ext cx="5157787" cy="4652856"/>
          </a:xfrm>
        </p:spPr>
        <p:txBody>
          <a:bodyPr>
            <a:normAutofit/>
          </a:bodyPr>
          <a:lstStyle/>
          <a:p>
            <a:r>
              <a:rPr lang="en-US" altLang="zh-CN" dirty="0"/>
              <a:t>RMON</a:t>
            </a:r>
            <a:r>
              <a:rPr lang="zh-CN" altLang="en-US" dirty="0"/>
              <a:t>的基本概念</a:t>
            </a:r>
            <a:endParaRPr lang="en-US" altLang="zh-CN" dirty="0"/>
          </a:p>
          <a:p>
            <a:pPr lvl="1"/>
            <a:r>
              <a:rPr lang="zh-CN" altLang="en-US" dirty="0"/>
              <a:t>表管理原理</a:t>
            </a:r>
            <a:endParaRPr lang="en-US" altLang="zh-CN" dirty="0"/>
          </a:p>
          <a:p>
            <a:pPr lvl="2"/>
            <a:r>
              <a:rPr lang="zh-CN" altLang="en-US" dirty="0"/>
              <a:t>表结构</a:t>
            </a:r>
            <a:endParaRPr lang="en-US" altLang="zh-CN" dirty="0"/>
          </a:p>
          <a:p>
            <a:pPr lvl="2"/>
            <a:r>
              <a:rPr lang="zh-CN" altLang="en-US" dirty="0"/>
              <a:t>控制表和数据表</a:t>
            </a:r>
            <a:endParaRPr lang="en-US" altLang="zh-CN" dirty="0"/>
          </a:p>
          <a:p>
            <a:r>
              <a:rPr lang="zh-CN" altLang="en-US" dirty="0"/>
              <a:t>多管理站的访问</a:t>
            </a:r>
            <a:endParaRPr lang="en-US" altLang="zh-CN" dirty="0"/>
          </a:p>
          <a:p>
            <a:r>
              <a:rPr lang="en-US" altLang="zh-CN" dirty="0"/>
              <a:t>RMON MIB</a:t>
            </a:r>
          </a:p>
          <a:p>
            <a:pPr lvl="1"/>
            <a:r>
              <a:rPr lang="zh-CN" altLang="en-US" dirty="0"/>
              <a:t>连带关系</a:t>
            </a:r>
            <a:endParaRPr lang="en-US" altLang="zh-CN" dirty="0"/>
          </a:p>
          <a:p>
            <a:pPr lvl="1"/>
            <a:r>
              <a:rPr lang="zh-CN" altLang="en-US" dirty="0"/>
              <a:t>各组的常识</a:t>
            </a:r>
            <a:endParaRPr lang="en-US" altLang="zh-CN" dirty="0"/>
          </a:p>
          <a:p>
            <a:pPr lvl="2"/>
            <a:r>
              <a:rPr lang="zh-CN" altLang="en-US" dirty="0"/>
              <a:t>子网利用率计算</a:t>
            </a:r>
            <a:endParaRPr lang="en-US" altLang="zh-CN" dirty="0"/>
          </a:p>
          <a:p>
            <a:pPr lvl="2"/>
            <a:r>
              <a:rPr lang="zh-CN" altLang="en-US" dirty="0"/>
              <a:t>报警组的报警机制</a:t>
            </a:r>
            <a:endParaRPr lang="en-US" altLang="zh-CN" dirty="0"/>
          </a:p>
          <a:p>
            <a:pPr marL="914400" lvl="2" indent="0">
              <a:buNone/>
            </a:pPr>
            <a:endParaRPr lang="en-US" altLang="zh-CN" dirty="0"/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B6139933-25FF-4C48-8B73-AD1FF5F5ECA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1536807"/>
            <a:ext cx="5183188" cy="4652856"/>
          </a:xfrm>
        </p:spPr>
        <p:txBody>
          <a:bodyPr>
            <a:normAutofit/>
          </a:bodyPr>
          <a:lstStyle/>
          <a:p>
            <a:r>
              <a:rPr lang="en-US" altLang="zh-CN" dirty="0"/>
              <a:t>RMON2</a:t>
            </a:r>
            <a:r>
              <a:rPr lang="zh-CN" altLang="en-US" dirty="0"/>
              <a:t>的组成</a:t>
            </a:r>
            <a:endParaRPr lang="en-US" altLang="zh-CN" dirty="0"/>
          </a:p>
          <a:p>
            <a:pPr lvl="1"/>
            <a:r>
              <a:rPr lang="zh-CN" altLang="en-US" dirty="0"/>
              <a:t>扩充协议</a:t>
            </a:r>
            <a:endParaRPr lang="en-US" altLang="zh-CN" dirty="0"/>
          </a:p>
          <a:p>
            <a:pPr lvl="1"/>
            <a:r>
              <a:rPr lang="zh-CN" altLang="en-US" dirty="0"/>
              <a:t>增加功能</a:t>
            </a:r>
            <a:endParaRPr lang="en-US" altLang="zh-CN" dirty="0"/>
          </a:p>
          <a:p>
            <a:pPr lvl="2"/>
            <a:r>
              <a:rPr lang="zh-CN" altLang="en-US" dirty="0"/>
              <a:t>外部对象索引</a:t>
            </a:r>
            <a:endParaRPr lang="en-US" altLang="zh-CN" dirty="0"/>
          </a:p>
          <a:p>
            <a:pPr lvl="2"/>
            <a:r>
              <a:rPr lang="zh-CN" altLang="en-US" dirty="0"/>
              <a:t>时间过滤器索引</a:t>
            </a:r>
            <a:endParaRPr lang="en-US" altLang="zh-CN" dirty="0"/>
          </a:p>
          <a:p>
            <a:r>
              <a:rPr lang="en-US" altLang="zh-CN" dirty="0"/>
              <a:t>RMON2</a:t>
            </a:r>
            <a:r>
              <a:rPr lang="zh-CN" altLang="en-US" dirty="0"/>
              <a:t>的应用</a:t>
            </a:r>
            <a:endParaRPr lang="en-US" altLang="zh-CN" dirty="0"/>
          </a:p>
          <a:p>
            <a:pPr lvl="1"/>
            <a:r>
              <a:rPr lang="zh-CN" altLang="en-US" dirty="0"/>
              <a:t>协议标识和协议参数</a:t>
            </a:r>
            <a:endParaRPr lang="en-US" altLang="zh-CN"/>
          </a:p>
          <a:p>
            <a:pPr lvl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697275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3850779-2C6F-4854-9E2D-739D661998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例题</a:t>
            </a:r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FB8E532-0351-408B-B74C-A6CA29CE8C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77571"/>
            <a:ext cx="10515600" cy="4499392"/>
          </a:xfrm>
        </p:spPr>
        <p:txBody>
          <a:bodyPr/>
          <a:lstStyle/>
          <a:p>
            <a:r>
              <a:rPr lang="zh-CN" altLang="en-US" dirty="0"/>
              <a:t>请使用</a:t>
            </a:r>
            <a:r>
              <a:rPr lang="en-US" altLang="zh-CN" dirty="0"/>
              <a:t>SNMPv1</a:t>
            </a:r>
            <a:r>
              <a:rPr lang="zh-CN" altLang="en-US" dirty="0"/>
              <a:t>的操作访问</a:t>
            </a:r>
            <a:endParaRPr lang="en-US" altLang="zh-CN" dirty="0"/>
          </a:p>
          <a:p>
            <a:r>
              <a:rPr lang="zh-CN" altLang="en-US" dirty="0"/>
              <a:t>某个代理中</a:t>
            </a:r>
            <a:r>
              <a:rPr lang="en-US" altLang="zh-CN" dirty="0"/>
              <a:t>UDP</a:t>
            </a:r>
            <a:r>
              <a:rPr lang="zh-CN" altLang="en-US" dirty="0"/>
              <a:t>组中的</a:t>
            </a:r>
            <a:endParaRPr lang="en-US" altLang="zh-CN" dirty="0"/>
          </a:p>
          <a:p>
            <a:r>
              <a:rPr lang="en-US" altLang="zh-CN" dirty="0" err="1"/>
              <a:t>udpInErrors</a:t>
            </a:r>
            <a:r>
              <a:rPr lang="zh-CN" altLang="en-US" dirty="0"/>
              <a:t>对象进行访问</a:t>
            </a:r>
            <a:endParaRPr lang="en-US" altLang="zh-CN" dirty="0"/>
          </a:p>
          <a:p>
            <a:r>
              <a:rPr lang="zh-CN" altLang="en-US" dirty="0"/>
              <a:t>并给出正确的回复。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答：</a:t>
            </a:r>
            <a:r>
              <a:rPr lang="en-US" altLang="zh-CN" dirty="0" err="1"/>
              <a:t>GetRequest</a:t>
            </a:r>
            <a:r>
              <a:rPr lang="en-US" altLang="zh-CN" dirty="0"/>
              <a:t>(udp.udpInErrors.0/1.3.6.1.2.1.7.3.0)</a:t>
            </a:r>
          </a:p>
          <a:p>
            <a:r>
              <a:rPr lang="en-US" altLang="zh-CN" dirty="0" err="1"/>
              <a:t>GetResponse</a:t>
            </a:r>
            <a:r>
              <a:rPr lang="zh-CN" altLang="en-US" dirty="0"/>
              <a:t>（</a:t>
            </a:r>
            <a:r>
              <a:rPr lang="en-US" altLang="zh-CN" dirty="0"/>
              <a:t>udp.udpInErrors.0/1.3.6.1.2.1.7.3.0=2</a:t>
            </a:r>
            <a:r>
              <a:rPr lang="zh-CN" altLang="en-US" dirty="0"/>
              <a:t>）</a:t>
            </a:r>
            <a:endParaRPr lang="en-US" altLang="zh-CN" dirty="0"/>
          </a:p>
          <a:p>
            <a:r>
              <a:rPr lang="zh-CN" altLang="en-US" dirty="0"/>
              <a:t>或者</a:t>
            </a:r>
            <a:r>
              <a:rPr lang="en-US" altLang="zh-CN" dirty="0" err="1"/>
              <a:t>GetNextRequest</a:t>
            </a:r>
            <a:r>
              <a:rPr lang="en-US" altLang="zh-CN" dirty="0"/>
              <a:t>(</a:t>
            </a:r>
            <a:r>
              <a:rPr lang="en-US" altLang="zh-CN" dirty="0" err="1"/>
              <a:t>udp.udpInErrors</a:t>
            </a:r>
            <a:r>
              <a:rPr lang="en-US" altLang="zh-CN" dirty="0"/>
              <a:t>/1.3.6.1.2.1.7.3)</a:t>
            </a:r>
          </a:p>
          <a:p>
            <a:endParaRPr lang="zh-CN" altLang="en-US" dirty="0"/>
          </a:p>
        </p:txBody>
      </p:sp>
      <p:grpSp>
        <p:nvGrpSpPr>
          <p:cNvPr id="4" name="组合 1">
            <a:extLst>
              <a:ext uri="{FF2B5EF4-FFF2-40B4-BE49-F238E27FC236}">
                <a16:creationId xmlns:a16="http://schemas.microsoft.com/office/drawing/2014/main" id="{DCC5F50A-BA81-4E24-9504-6B1140B54264}"/>
              </a:ext>
            </a:extLst>
          </p:cNvPr>
          <p:cNvGrpSpPr>
            <a:grpSpLocks/>
          </p:cNvGrpSpPr>
          <p:nvPr/>
        </p:nvGrpSpPr>
        <p:grpSpPr bwMode="auto">
          <a:xfrm>
            <a:off x="7562438" y="613718"/>
            <a:ext cx="4067908" cy="2694561"/>
            <a:chOff x="2971799" y="1854200"/>
            <a:chExt cx="6172201" cy="3284028"/>
          </a:xfrm>
        </p:grpSpPr>
        <p:sp>
          <p:nvSpPr>
            <p:cNvPr id="5" name="Text Box 2">
              <a:extLst>
                <a:ext uri="{FF2B5EF4-FFF2-40B4-BE49-F238E27FC236}">
                  <a16:creationId xmlns:a16="http://schemas.microsoft.com/office/drawing/2014/main" id="{D6A61E09-60DD-4C8A-8A56-9EFCFB310C3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71799" y="4661276"/>
              <a:ext cx="4762778" cy="4769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00000"/>
                <a:buFont typeface="Wingdings" pitchFamily="2" charset="2"/>
                <a:buChar char="l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Adobe 仿宋 Std R" pitchFamily="18" charset="-122"/>
                  <a:sym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100000"/>
                <a:buFont typeface="Wingdings" pitchFamily="2" charset="2"/>
                <a:buChar char="F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Adobe 仿宋 Std R" pitchFamily="18" charset="-122"/>
                  <a:sym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100000"/>
                <a:buFont typeface="Wingdings 2" pitchFamily="2" charset="2"/>
                <a:buChar char="¸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Adobe 仿宋 Std R" pitchFamily="18" charset="-122"/>
                  <a:sym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Adobe 仿宋 Std R" pitchFamily="18" charset="-122"/>
                  <a:sym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Adobe 仿宋 Std R" pitchFamily="18" charset="-122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Adobe 仿宋 Std R" pitchFamily="18" charset="-122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Adobe 仿宋 Std R" pitchFamily="18" charset="-122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Adobe 仿宋 Std R" pitchFamily="18" charset="-122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Adobe 仿宋 Std R" pitchFamily="18" charset="-122"/>
                  <a:sym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500" b="1" dirty="0">
                  <a:latin typeface="Adobe 仿宋 Std R" pitchFamily="18" charset="-122"/>
                </a:rPr>
                <a:t>图</a:t>
              </a:r>
              <a:r>
                <a:rPr lang="en-US" altLang="zh-CN" sz="2500" b="1" dirty="0">
                  <a:latin typeface="Adobe 仿宋 Std R" pitchFamily="18" charset="-122"/>
                </a:rPr>
                <a:t>1 </a:t>
              </a:r>
              <a:r>
                <a:rPr lang="zh-CN" altLang="en-US" sz="2500" b="1" dirty="0">
                  <a:latin typeface="Adobe 仿宋 Std R" pitchFamily="18" charset="-122"/>
                </a:rPr>
                <a:t>检索简单对象例 </a:t>
              </a:r>
            </a:p>
          </p:txBody>
        </p:sp>
        <p:sp>
          <p:nvSpPr>
            <p:cNvPr id="7" name="Text Box 4">
              <a:extLst>
                <a:ext uri="{FF2B5EF4-FFF2-40B4-BE49-F238E27FC236}">
                  <a16:creationId xmlns:a16="http://schemas.microsoft.com/office/drawing/2014/main" id="{DBD81EB9-D6F7-4151-A235-CE68E041837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883525" y="1854200"/>
              <a:ext cx="1260475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00000"/>
                <a:buFont typeface="Wingdings" pitchFamily="2" charset="2"/>
                <a:buChar char="l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Adobe 仿宋 Std R" pitchFamily="18" charset="-122"/>
                  <a:sym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100000"/>
                <a:buFont typeface="Wingdings" pitchFamily="2" charset="2"/>
                <a:buChar char="F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Adobe 仿宋 Std R" pitchFamily="18" charset="-122"/>
                  <a:sym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100000"/>
                <a:buFont typeface="Wingdings 2" pitchFamily="2" charset="2"/>
                <a:buChar char="¸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Adobe 仿宋 Std R" pitchFamily="18" charset="-122"/>
                  <a:sym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Adobe 仿宋 Std R" pitchFamily="18" charset="-122"/>
                  <a:sym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Adobe 仿宋 Std R" pitchFamily="18" charset="-122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Adobe 仿宋 Std R" pitchFamily="18" charset="-122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Adobe 仿宋 Std R" pitchFamily="18" charset="-122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Adobe 仿宋 Std R" pitchFamily="18" charset="-122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Adobe 仿宋 Std R" pitchFamily="18" charset="-122"/>
                  <a:sym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800" dirty="0">
                  <a:latin typeface="Adobe 仿宋 Std R" pitchFamily="18" charset="-122"/>
                  <a:ea typeface="宋体" panose="02010600030101010101" pitchFamily="2" charset="-122"/>
                </a:rPr>
                <a:t>100</a:t>
              </a:r>
            </a:p>
          </p:txBody>
        </p:sp>
        <p:sp>
          <p:nvSpPr>
            <p:cNvPr id="8" name="Text Box 5">
              <a:extLst>
                <a:ext uri="{FF2B5EF4-FFF2-40B4-BE49-F238E27FC236}">
                  <a16:creationId xmlns:a16="http://schemas.microsoft.com/office/drawing/2014/main" id="{FCFED91F-256D-459C-A318-A6FCBA42075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085138" y="2393950"/>
              <a:ext cx="627062" cy="523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00000"/>
                <a:buFont typeface="Wingdings" pitchFamily="2" charset="2"/>
                <a:buChar char="l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Adobe 仿宋 Std R" pitchFamily="18" charset="-122"/>
                  <a:sym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100000"/>
                <a:buFont typeface="Wingdings" pitchFamily="2" charset="2"/>
                <a:buChar char="F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Adobe 仿宋 Std R" pitchFamily="18" charset="-122"/>
                  <a:sym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100000"/>
                <a:buFont typeface="Wingdings 2" pitchFamily="2" charset="2"/>
                <a:buChar char="¸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Adobe 仿宋 Std R" pitchFamily="18" charset="-122"/>
                  <a:sym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Adobe 仿宋 Std R" pitchFamily="18" charset="-122"/>
                  <a:sym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Adobe 仿宋 Std R" pitchFamily="18" charset="-122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Adobe 仿宋 Std R" pitchFamily="18" charset="-122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Adobe 仿宋 Std R" pitchFamily="18" charset="-122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Adobe 仿宋 Std R" pitchFamily="18" charset="-122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Adobe 仿宋 Std R" pitchFamily="18" charset="-122"/>
                  <a:sym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800">
                  <a:latin typeface="Adobe 仿宋 Std R" pitchFamily="18" charset="-122"/>
                  <a:ea typeface="宋体" panose="02010600030101010101" pitchFamily="2" charset="-122"/>
                </a:rPr>
                <a:t>1</a:t>
              </a:r>
            </a:p>
          </p:txBody>
        </p:sp>
        <p:sp>
          <p:nvSpPr>
            <p:cNvPr id="9" name="Text Box 6">
              <a:extLst>
                <a:ext uri="{FF2B5EF4-FFF2-40B4-BE49-F238E27FC236}">
                  <a16:creationId xmlns:a16="http://schemas.microsoft.com/office/drawing/2014/main" id="{8C654FDF-3B89-403D-A239-38F7FDF2C9B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954963" y="3475037"/>
              <a:ext cx="938212" cy="6376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00000"/>
                <a:buFont typeface="Wingdings" pitchFamily="2" charset="2"/>
                <a:buChar char="l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Adobe 仿宋 Std R" pitchFamily="18" charset="-122"/>
                  <a:sym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100000"/>
                <a:buFont typeface="Wingdings" pitchFamily="2" charset="2"/>
                <a:buChar char="F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Adobe 仿宋 Std R" pitchFamily="18" charset="-122"/>
                  <a:sym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100000"/>
                <a:buFont typeface="Wingdings 2" pitchFamily="2" charset="2"/>
                <a:buChar char="¸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Adobe 仿宋 Std R" pitchFamily="18" charset="-122"/>
                  <a:sym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Adobe 仿宋 Std R" pitchFamily="18" charset="-122"/>
                  <a:sym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Adobe 仿宋 Std R" pitchFamily="18" charset="-122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Adobe 仿宋 Std R" pitchFamily="18" charset="-122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Adobe 仿宋 Std R" pitchFamily="18" charset="-122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Adobe 仿宋 Std R" pitchFamily="18" charset="-122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Adobe 仿宋 Std R" pitchFamily="18" charset="-122"/>
                  <a:sym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800" dirty="0">
                  <a:latin typeface="Adobe 仿宋 Std R" pitchFamily="18" charset="-122"/>
                  <a:ea typeface="宋体" panose="02010600030101010101" pitchFamily="2" charset="-122"/>
                </a:rPr>
                <a:t>20</a:t>
              </a:r>
            </a:p>
          </p:txBody>
        </p:sp>
        <p:sp>
          <p:nvSpPr>
            <p:cNvPr id="10" name="Text Box 7">
              <a:extLst>
                <a:ext uri="{FF2B5EF4-FFF2-40B4-BE49-F238E27FC236}">
                  <a16:creationId xmlns:a16="http://schemas.microsoft.com/office/drawing/2014/main" id="{C3788A2C-434C-460B-A1C0-0E13BBA0651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080375" y="2933700"/>
              <a:ext cx="857250" cy="523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00000"/>
                <a:buFont typeface="Wingdings" pitchFamily="2" charset="2"/>
                <a:buChar char="l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Adobe 仿宋 Std R" pitchFamily="18" charset="-122"/>
                  <a:sym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100000"/>
                <a:buFont typeface="Wingdings" pitchFamily="2" charset="2"/>
                <a:buChar char="F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Adobe 仿宋 Std R" pitchFamily="18" charset="-122"/>
                  <a:sym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100000"/>
                <a:buFont typeface="Wingdings 2" pitchFamily="2" charset="2"/>
                <a:buChar char="¸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Adobe 仿宋 Std R" pitchFamily="18" charset="-122"/>
                  <a:sym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Adobe 仿宋 Std R" pitchFamily="18" charset="-122"/>
                  <a:sym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Adobe 仿宋 Std R" pitchFamily="18" charset="-122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Adobe 仿宋 Std R" pitchFamily="18" charset="-122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Adobe 仿宋 Std R" pitchFamily="18" charset="-122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Adobe 仿宋 Std R" pitchFamily="18" charset="-122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Adobe 仿宋 Std R" pitchFamily="18" charset="-122"/>
                  <a:sym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800" dirty="0">
                  <a:latin typeface="Adobe 仿宋 Std R" pitchFamily="18" charset="-122"/>
                  <a:ea typeface="宋体" panose="02010600030101010101" pitchFamily="2" charset="-122"/>
                </a:rPr>
                <a:t>2</a:t>
              </a:r>
            </a:p>
          </p:txBody>
        </p:sp>
      </p:grpSp>
      <p:pic>
        <p:nvPicPr>
          <p:cNvPr id="12" name="图片 11">
            <a:extLst>
              <a:ext uri="{FF2B5EF4-FFF2-40B4-BE49-F238E27FC236}">
                <a16:creationId xmlns:a16="http://schemas.microsoft.com/office/drawing/2014/main" id="{50FC1630-1EA5-413F-8D5A-EC69A641088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560" b="57936"/>
          <a:stretch/>
        </p:blipFill>
        <p:spPr>
          <a:xfrm>
            <a:off x="7038910" y="358127"/>
            <a:ext cx="3807778" cy="2627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43148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3FA8E51-0561-432E-8ED3-41352BD990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32925"/>
            <a:ext cx="10515600" cy="894238"/>
          </a:xfrm>
        </p:spPr>
        <p:txBody>
          <a:bodyPr>
            <a:normAutofit/>
          </a:bodyPr>
          <a:lstStyle/>
          <a:p>
            <a:r>
              <a:rPr lang="zh-CN" altLang="en-US" sz="3600" b="1" dirty="0"/>
              <a:t>例题</a:t>
            </a:r>
            <a:r>
              <a:rPr lang="en-US" altLang="zh-CN" sz="3600" b="1" dirty="0"/>
              <a:t>2</a:t>
            </a:r>
            <a:endParaRPr lang="zh-CN" altLang="en-US" sz="3600" b="1" dirty="0"/>
          </a:p>
        </p:txBody>
      </p:sp>
      <p:graphicFrame>
        <p:nvGraphicFramePr>
          <p:cNvPr id="5" name="Group 3">
            <a:extLst>
              <a:ext uri="{FF2B5EF4-FFF2-40B4-BE49-F238E27FC236}">
                <a16:creationId xmlns:a16="http://schemas.microsoft.com/office/drawing/2014/main" id="{CC05D35E-82D3-4460-908C-479E6E8F238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45823348"/>
              </p:ext>
            </p:extLst>
          </p:nvPr>
        </p:nvGraphicFramePr>
        <p:xfrm>
          <a:off x="308224" y="365125"/>
          <a:ext cx="11640621" cy="2367800"/>
        </p:xfrm>
        <a:graphic>
          <a:graphicData uri="http://schemas.openxmlformats.org/drawingml/2006/table">
            <a:tbl>
              <a:tblPr/>
              <a:tblGrid>
                <a:gridCol w="13449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380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117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4594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90772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dobe 仿宋 Std R" pitchFamily="18" charset="-122"/>
                          <a:ea typeface="Adobe 仿宋 Std R" pitchFamily="18" charset="-122"/>
                          <a:sym typeface="Arial" pitchFamily="34" charset="0"/>
                        </a:rPr>
                        <a:t>Ifindex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dobe 仿宋 Std R" pitchFamily="18" charset="-122"/>
                        <a:ea typeface="Adobe 仿宋 Std R" pitchFamily="18" charset="-122"/>
                        <a:sym typeface="Arial" pitchFamily="34" charset="0"/>
                      </a:endParaRPr>
                    </a:p>
                  </a:txBody>
                  <a:tcPr marT="44904" marB="4490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dobe 仿宋 Std R" pitchFamily="18" charset="-122"/>
                          <a:ea typeface="Adobe 仿宋 Std R" pitchFamily="18" charset="-122"/>
                          <a:sym typeface="Arial" pitchFamily="34" charset="0"/>
                        </a:rPr>
                        <a:t>IpNetToMediaNetAddress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dobe 仿宋 Std R" pitchFamily="18" charset="-122"/>
                        <a:ea typeface="Adobe 仿宋 Std R" pitchFamily="18" charset="-122"/>
                        <a:sym typeface="Arial" pitchFamily="34" charset="0"/>
                      </a:endParaRPr>
                    </a:p>
                  </a:txBody>
                  <a:tcPr marT="44904" marB="449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dobe 仿宋 Std R" pitchFamily="18" charset="-122"/>
                          <a:ea typeface="Adobe 仿宋 Std R" pitchFamily="18" charset="-122"/>
                          <a:sym typeface="Arial" pitchFamily="34" charset="0"/>
                        </a:rPr>
                        <a:t>IpNetToMediaPhysAaddress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dobe 仿宋 Std R" pitchFamily="18" charset="-122"/>
                        <a:ea typeface="Adobe 仿宋 Std R" pitchFamily="18" charset="-122"/>
                        <a:sym typeface="Arial" pitchFamily="34" charset="0"/>
                      </a:endParaRPr>
                    </a:p>
                  </a:txBody>
                  <a:tcPr marT="44904" marB="449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dobe 仿宋 Std R" pitchFamily="18" charset="-122"/>
                          <a:ea typeface="Adobe 仿宋 Std R" pitchFamily="18" charset="-122"/>
                          <a:sym typeface="Arial" pitchFamily="34" charset="0"/>
                        </a:rPr>
                        <a:t>IpNetToMediaType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dobe 仿宋 Std R" pitchFamily="18" charset="-122"/>
                        <a:ea typeface="Adobe 仿宋 Std R" pitchFamily="18" charset="-122"/>
                        <a:sym typeface="Arial" pitchFamily="34" charset="0"/>
                      </a:endParaRPr>
                    </a:p>
                  </a:txBody>
                  <a:tcPr marT="44904" marB="449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669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dobe 仿宋 Std R" pitchFamily="18" charset="-122"/>
                          <a:ea typeface="Adobe 仿宋 Std R" pitchFamily="18" charset="-122"/>
                          <a:sym typeface="Arial" pitchFamily="34" charset="0"/>
                        </a:rPr>
                        <a:t>1</a:t>
                      </a:r>
                    </a:p>
                  </a:txBody>
                  <a:tcPr marT="44904" marB="4490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dobe 仿宋 Std R" pitchFamily="18" charset="-122"/>
                          <a:ea typeface="Adobe 仿宋 Std R" pitchFamily="18" charset="-122"/>
                          <a:sym typeface="Arial" pitchFamily="34" charset="0"/>
                        </a:rPr>
                        <a:t>9.2.3.4</a:t>
                      </a:r>
                    </a:p>
                  </a:txBody>
                  <a:tcPr marT="44904" marB="449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dobe 仿宋 Std R" pitchFamily="18" charset="-122"/>
                          <a:ea typeface="Adobe 仿宋 Std R" pitchFamily="18" charset="-122"/>
                          <a:sym typeface="Arial" pitchFamily="34" charset="0"/>
                        </a:rPr>
                        <a:t>000010543210</a:t>
                      </a:r>
                    </a:p>
                  </a:txBody>
                  <a:tcPr marT="44904" marB="449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dobe 仿宋 Std R" pitchFamily="18" charset="-122"/>
                          <a:ea typeface="Adobe 仿宋 Std R" pitchFamily="18" charset="-122"/>
                          <a:sym typeface="Arial" pitchFamily="34" charset="0"/>
                        </a:rPr>
                        <a:t>dynamic</a:t>
                      </a:r>
                    </a:p>
                  </a:txBody>
                  <a:tcPr marT="44904" marB="449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669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dobe 仿宋 Std R" pitchFamily="18" charset="-122"/>
                          <a:ea typeface="Adobe 仿宋 Std R" pitchFamily="18" charset="-122"/>
                          <a:sym typeface="Arial" pitchFamily="34" charset="0"/>
                        </a:rPr>
                        <a:t>1</a:t>
                      </a:r>
                    </a:p>
                  </a:txBody>
                  <a:tcPr marT="44904" marB="4490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dobe 仿宋 Std R" pitchFamily="18" charset="-122"/>
                          <a:ea typeface="Adobe 仿宋 Std R" pitchFamily="18" charset="-122"/>
                          <a:sym typeface="Arial" pitchFamily="34" charset="0"/>
                        </a:rPr>
                        <a:t>10.0.0.51</a:t>
                      </a:r>
                    </a:p>
                  </a:txBody>
                  <a:tcPr marT="44904" marB="449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dobe 仿宋 Std R" pitchFamily="18" charset="-122"/>
                          <a:ea typeface="Adobe 仿宋 Std R" pitchFamily="18" charset="-122"/>
                          <a:sym typeface="Arial" pitchFamily="34" charset="0"/>
                        </a:rPr>
                        <a:t>000010012345</a:t>
                      </a:r>
                    </a:p>
                  </a:txBody>
                  <a:tcPr marT="44904" marB="449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dobe 仿宋 Std R" pitchFamily="18" charset="-122"/>
                          <a:ea typeface="Adobe 仿宋 Std R" pitchFamily="18" charset="-122"/>
                          <a:sym typeface="Arial" pitchFamily="34" charset="0"/>
                        </a:rPr>
                        <a:t>static</a:t>
                      </a:r>
                    </a:p>
                  </a:txBody>
                  <a:tcPr marT="44904" marB="449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669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dobe 仿宋 Std R" pitchFamily="18" charset="-122"/>
                          <a:ea typeface="Adobe 仿宋 Std R" pitchFamily="18" charset="-122"/>
                          <a:sym typeface="Arial" pitchFamily="34" charset="0"/>
                        </a:rPr>
                        <a:t>2</a:t>
                      </a:r>
                    </a:p>
                  </a:txBody>
                  <a:tcPr marT="44904" marB="4490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dobe 仿宋 Std R" pitchFamily="18" charset="-122"/>
                          <a:ea typeface="Adobe 仿宋 Std R" pitchFamily="18" charset="-122"/>
                          <a:sym typeface="Arial" pitchFamily="34" charset="0"/>
                        </a:rPr>
                        <a:t>10.0.0.15</a:t>
                      </a:r>
                    </a:p>
                  </a:txBody>
                  <a:tcPr marT="44904" marB="449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dobe 仿宋 Std R" pitchFamily="18" charset="-122"/>
                          <a:ea typeface="Adobe 仿宋 Std R" pitchFamily="18" charset="-122"/>
                          <a:sym typeface="Arial" pitchFamily="34" charset="0"/>
                        </a:rPr>
                        <a:t>000010987654</a:t>
                      </a:r>
                    </a:p>
                  </a:txBody>
                  <a:tcPr marT="44904" marB="449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dobe 仿宋 Std R" pitchFamily="18" charset="-122"/>
                          <a:ea typeface="Adobe 仿宋 Std R" pitchFamily="18" charset="-122"/>
                          <a:sym typeface="Arial" pitchFamily="34" charset="0"/>
                        </a:rPr>
                        <a:t>dynamic</a:t>
                      </a:r>
                    </a:p>
                  </a:txBody>
                  <a:tcPr marT="44904" marB="449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内容占位符 6">
            <a:extLst>
              <a:ext uri="{FF2B5EF4-FFF2-40B4-BE49-F238E27FC236}">
                <a16:creationId xmlns:a16="http://schemas.microsoft.com/office/drawing/2014/main" id="{5A89821B-9767-4287-8AB1-A3AC040AB1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534310"/>
            <a:ext cx="10515600" cy="2642652"/>
          </a:xfrm>
        </p:spPr>
        <p:txBody>
          <a:bodyPr/>
          <a:lstStyle/>
          <a:p>
            <a:pPr algn="just">
              <a:lnSpc>
                <a:spcPct val="125000"/>
              </a:lnSpc>
            </a:pP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（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）使用单条查询语句对第一行后两列进行检索；</a:t>
            </a:r>
          </a:p>
          <a:p>
            <a:pPr algn="just">
              <a:lnSpc>
                <a:spcPct val="125000"/>
              </a:lnSpc>
            </a:pP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（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）将列对象</a:t>
            </a:r>
            <a:r>
              <a:rPr lang="en-US" altLang="zh-CN" sz="18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ipNetToMediaType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的第二行的值改为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dynamic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；</a:t>
            </a:r>
          </a:p>
          <a:p>
            <a:pPr algn="just">
              <a:lnSpc>
                <a:spcPct val="125000"/>
              </a:lnSpc>
            </a:pP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（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）使用单条查询语句请求获取当前表格的后两列三行数据和系统的</a:t>
            </a:r>
            <a:r>
              <a:rPr lang="en-US" altLang="zh-CN" sz="18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sysUpTime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值；</a:t>
            </a:r>
            <a:endParaRPr lang="en-US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983820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448</Words>
  <Application>Microsoft Office PowerPoint</Application>
  <PresentationFormat>宽屏</PresentationFormat>
  <Paragraphs>117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6" baseType="lpstr">
      <vt:lpstr>Adobe 仿宋 Std R</vt:lpstr>
      <vt:lpstr>等线</vt:lpstr>
      <vt:lpstr>等线 Light</vt:lpstr>
      <vt:lpstr>Arial</vt:lpstr>
      <vt:lpstr>Times New Roman</vt:lpstr>
      <vt:lpstr>Wingdings</vt:lpstr>
      <vt:lpstr>Office 主题​​</vt:lpstr>
      <vt:lpstr>网络管理理论与实践(混合式）复习课</vt:lpstr>
      <vt:lpstr>考试重点——全书前面五章内容</vt:lpstr>
      <vt:lpstr>第一章网络管理概述重点难点</vt:lpstr>
      <vt:lpstr>第二章抽象语法表示ASN.1</vt:lpstr>
      <vt:lpstr>第三章 管理信息库</vt:lpstr>
      <vt:lpstr>第四章 简单网络管理协议</vt:lpstr>
      <vt:lpstr>第五章 远程网络监视</vt:lpstr>
      <vt:lpstr>例题1</vt:lpstr>
      <vt:lpstr>例题2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网络管理理论与实践(混合式）复习课</dc:title>
  <dc:creator>dell</dc:creator>
  <cp:lastModifiedBy>dell</cp:lastModifiedBy>
  <cp:revision>20</cp:revision>
  <dcterms:created xsi:type="dcterms:W3CDTF">2025-05-22T05:26:07Z</dcterms:created>
  <dcterms:modified xsi:type="dcterms:W3CDTF">2025-05-24T08:34:39Z</dcterms:modified>
</cp:coreProperties>
</file>